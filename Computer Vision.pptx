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179B476-2B7F-4DF8-907B-2C57C504F7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0072E-F40B-46BF-8B21-8F4D990F752A}"/>
              </a:ext>
            </a:extLst>
          </p:cNvPr>
          <p:cNvSpPr>
            <a:spLocks noGrp="1"/>
          </p:cNvSpPr>
          <p:nvPr/>
        </p:nvSpPr>
        <p:spPr>
          <a:xfrm>
            <a:off x="342900" y="237204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98BBA8-7F93-447C-806E-C954BE8A4966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ANN, CNN and Transformers in Computer Vision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219C70-CA30-4FC2-810C-2C8BA52BDAA4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2A916-F65C-4392-AE0A-50B8EC09ACBE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1619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940C9-349C-4952-B6C7-D9A45EA236E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858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36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dirty="0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Computer Vision</a:t>
            </a:r>
            <a:endParaRPr sz="3600" b="1" dirty="0">
              <a:solidFill>
                <a:srgbClr val="F9FAF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1CC8F-02F3-4A3E-8872-7857054709E3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325" b="0">
                <a:solidFill>
                  <a:srgbClr val="E0F2FE"/>
                </a:solidFill>
                <a:latin typeface="Aptos"/>
                <a:ea typeface="Aptos"/>
                <a:cs typeface="Aptos"/>
              </a:defRPr>
            </a:pPr>
            <a:endParaRPr sz="2325" b="0" dirty="0">
              <a:solidFill>
                <a:srgbClr val="E0F2F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2DFD9-5F59-494C-A77E-6312E48A079C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2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 simple beginner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E900A-51CE-4BCE-A29D-385186BAC523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90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PPT explains how different AI models can understand images. It uses simple words and basic diagrams.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695432-EDC6-439F-9DC0-221CA2514719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2238375" cy="108585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C55618-89D7-459E-A405-4EC0DB0C4747}"/>
              </a:ext>
            </a:extLst>
          </p:cNvPr>
          <p:cNvSpPr>
            <a:spLocks noGrp="1"/>
          </p:cNvSpPr>
          <p:nvPr/>
        </p:nvSpPr>
        <p:spPr>
          <a:xfrm>
            <a:off x="7467600" y="2647950"/>
            <a:ext cx="20097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ANN</a:t>
            </a:r>
          </a:p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basic neural network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E99BE4-55D3-4640-80B9-E54ABF5AE30E}"/>
              </a:ext>
            </a:extLst>
          </p:cNvPr>
          <p:cNvSpPr>
            <a:spLocks noGrp="1"/>
          </p:cNvSpPr>
          <p:nvPr/>
        </p:nvSpPr>
        <p:spPr>
          <a:xfrm>
            <a:off x="8896350" y="3752850"/>
            <a:ext cx="2238375" cy="108585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FAA8A9-AF03-4040-A45B-2591033D7DAE}"/>
              </a:ext>
            </a:extLst>
          </p:cNvPr>
          <p:cNvSpPr>
            <a:spLocks noGrp="1"/>
          </p:cNvSpPr>
          <p:nvPr/>
        </p:nvSpPr>
        <p:spPr>
          <a:xfrm>
            <a:off x="9010650" y="3905250"/>
            <a:ext cx="20097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CNN</a:t>
            </a:r>
          </a:p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best known for images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5AFEAB-AE0F-47B1-A856-D946A99F08EA}"/>
              </a:ext>
            </a:extLst>
          </p:cNvPr>
          <p:cNvSpPr>
            <a:spLocks noGrp="1"/>
          </p:cNvSpPr>
          <p:nvPr/>
        </p:nvSpPr>
        <p:spPr>
          <a:xfrm>
            <a:off x="6991350" y="4953000"/>
            <a:ext cx="2238375" cy="1085850"/>
          </a:xfrm>
          <a:prstGeom prst="rect">
            <a:avLst/>
          </a:prstGeom>
          <a:solidFill>
            <a:srgbClr val="FFEDD5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F48556-4EB0-41AB-AF18-2BF8E535FEEE}"/>
              </a:ext>
            </a:extLst>
          </p:cNvPr>
          <p:cNvSpPr>
            <a:spLocks noGrp="1"/>
          </p:cNvSpPr>
          <p:nvPr/>
        </p:nvSpPr>
        <p:spPr>
          <a:xfrm>
            <a:off x="7105650" y="5105400"/>
            <a:ext cx="20097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Transformer</a:t>
            </a:r>
          </a:p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attention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4A45B7-A4F2-4A9F-A5FA-9DD5F4360B39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15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6366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190A05E-E6F3-422C-969E-FA191CA64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F86A81-01AC-4C0F-B257-D97AB1126CCE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F127F-00AF-4D55-8D33-CD4A8AFC3D0E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4A0C9-3ABB-4E0B-9DCE-B7B37F26D991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02-marker">
            <a:extLst>
              <a:ext uri="{FF2B5EF4-FFF2-40B4-BE49-F238E27FC236}">
                <a16:creationId xmlns:a16="http://schemas.microsoft.com/office/drawing/2014/main" id="{712B44FA-9E46-4BE8-8123-C67831357D3D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2-label">
            <a:extLst>
              <a:ext uri="{FF2B5EF4-FFF2-40B4-BE49-F238E27FC236}">
                <a16:creationId xmlns:a16="http://schemas.microsoft.com/office/drawing/2014/main" id="{7ED9AFD7-2A76-4578-AAA6-01AAB6591A7E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COMPUTER VISION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167C0-D470-465D-A282-2B98A7EE9C9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Computer vision helps computers understand pictures.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94498-89E7-4CD6-806A-ABA3C29007AD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381000" cy="381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1D8A7-11AE-401B-88C3-C37DB1DB2FFD}"/>
              </a:ext>
            </a:extLst>
          </p:cNvPr>
          <p:cNvSpPr>
            <a:spLocks noGrp="1"/>
          </p:cNvSpPr>
          <p:nvPr/>
        </p:nvSpPr>
        <p:spPr>
          <a:xfrm>
            <a:off x="1333500" y="2190750"/>
            <a:ext cx="381000" cy="38100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5A6E3-EFC5-43B6-9F18-DD3331EE67FE}"/>
              </a:ext>
            </a:extLst>
          </p:cNvPr>
          <p:cNvSpPr>
            <a:spLocks noGrp="1"/>
          </p:cNvSpPr>
          <p:nvPr/>
        </p:nvSpPr>
        <p:spPr>
          <a:xfrm>
            <a:off x="1752600" y="2190750"/>
            <a:ext cx="381000" cy="381000"/>
          </a:xfrm>
          <a:prstGeom prst="rect">
            <a:avLst/>
          </a:prstGeom>
          <a:solidFill>
            <a:srgbClr val="FFEDD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FB2FCE-792D-42B7-B026-17DB290A6D64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381000" cy="38100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0C7B9-379A-4019-8F37-98464CC38065}"/>
              </a:ext>
            </a:extLst>
          </p:cNvPr>
          <p:cNvSpPr>
            <a:spLocks noGrp="1"/>
          </p:cNvSpPr>
          <p:nvPr/>
        </p:nvSpPr>
        <p:spPr>
          <a:xfrm>
            <a:off x="1333500" y="2609850"/>
            <a:ext cx="381000" cy="38100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3AEB1C-1335-4638-88FA-AD78FAB7C3A2}"/>
              </a:ext>
            </a:extLst>
          </p:cNvPr>
          <p:cNvSpPr>
            <a:spLocks noGrp="1"/>
          </p:cNvSpPr>
          <p:nvPr/>
        </p:nvSpPr>
        <p:spPr>
          <a:xfrm>
            <a:off x="1752600" y="2609850"/>
            <a:ext cx="381000" cy="381000"/>
          </a:xfrm>
          <a:prstGeom prst="rect">
            <a:avLst/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A02FEC-72C1-4B2C-B3AC-01A7818FDC38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381000" cy="381000"/>
          </a:xfrm>
          <a:prstGeom prst="rect">
            <a:avLst/>
          </a:prstGeom>
          <a:solidFill>
            <a:srgbClr val="FCE7F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81686-5567-4226-A992-B007079BE679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381000" cy="381000"/>
          </a:xfrm>
          <a:prstGeom prst="rect">
            <a:avLst/>
          </a:prstGeom>
          <a:solidFill>
            <a:srgbClr val="ECFCC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D0C557-AE9E-402C-BD1F-3F8658B47896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381000" cy="381000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0C2E4-A087-4CB3-80C3-9AD932A3A67F}"/>
              </a:ext>
            </a:extLst>
          </p:cNvPr>
          <p:cNvSpPr>
            <a:spLocks noGrp="1"/>
          </p:cNvSpPr>
          <p:nvPr/>
        </p:nvSpPr>
        <p:spPr>
          <a:xfrm>
            <a:off x="1123950" y="342900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54CE7-0B88-4116-8203-6B55D48E8CC3}"/>
              </a:ext>
            </a:extLst>
          </p:cNvPr>
          <p:cNvSpPr>
            <a:spLocks noGrp="1"/>
          </p:cNvSpPr>
          <p:nvPr/>
        </p:nvSpPr>
        <p:spPr>
          <a:xfrm>
            <a:off x="2476500" y="2790825"/>
            <a:ext cx="102870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D0C12D-1C84-451B-B778-F2B20552D724}"/>
              </a:ext>
            </a:extLst>
          </p:cNvPr>
          <p:cNvSpPr>
            <a:spLocks noGrp="1"/>
          </p:cNvSpPr>
          <p:nvPr/>
        </p:nvSpPr>
        <p:spPr>
          <a:xfrm>
            <a:off x="346710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4671C7-7EAF-4470-ACAD-9AF090A902CA}"/>
              </a:ext>
            </a:extLst>
          </p:cNvPr>
          <p:cNvSpPr>
            <a:spLocks noGrp="1"/>
          </p:cNvSpPr>
          <p:nvPr/>
        </p:nvSpPr>
        <p:spPr>
          <a:xfrm>
            <a:off x="3905250" y="2476500"/>
            <a:ext cx="1714500" cy="68580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  <p:txBody>
          <a:bodyPr lIns="114300" tIns="114300" rIns="114300" bIns="114300" anchor="ctr"/>
          <a:lstStyle/>
          <a:p>
            <a:pPr algn="ctr"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AI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CAA875-9DDF-46FB-BD23-12770F36D89A}"/>
              </a:ext>
            </a:extLst>
          </p:cNvPr>
          <p:cNvSpPr>
            <a:spLocks noGrp="1"/>
          </p:cNvSpPr>
          <p:nvPr/>
        </p:nvSpPr>
        <p:spPr>
          <a:xfrm>
            <a:off x="5810250" y="2790825"/>
            <a:ext cx="102870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42DB44-461C-4964-8D7F-064E0AF060E9}"/>
              </a:ext>
            </a:extLst>
          </p:cNvPr>
          <p:cNvSpPr>
            <a:spLocks noGrp="1"/>
          </p:cNvSpPr>
          <p:nvPr/>
        </p:nvSpPr>
        <p:spPr>
          <a:xfrm>
            <a:off x="680085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4323D-266F-4FB8-81E9-263AB6C7289F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476500" cy="100965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  <p:txBody>
          <a:bodyPr lIns="114300" tIns="114300" rIns="114300" bIns="114300" anchor="ctr"/>
          <a:lstStyle/>
          <a:p>
            <a:pPr algn="ctr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answer:</a:t>
            </a:r>
          </a:p>
          <a:p>
            <a:pPr algn="ctr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cat / road / face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C10AC-78D3-4347-A48C-AD995209E096}"/>
              </a:ext>
            </a:extLst>
          </p:cNvPr>
          <p:cNvSpPr>
            <a:spLocks noGrp="1"/>
          </p:cNvSpPr>
          <p:nvPr/>
        </p:nvSpPr>
        <p:spPr>
          <a:xfrm>
            <a:off x="895350" y="4295775"/>
            <a:ext cx="95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0ADF63-F5C1-48B8-8FF2-787AEBA3A537}"/>
              </a:ext>
            </a:extLst>
          </p:cNvPr>
          <p:cNvSpPr>
            <a:spLocks noGrp="1"/>
          </p:cNvSpPr>
          <p:nvPr/>
        </p:nvSpPr>
        <p:spPr>
          <a:xfrm>
            <a:off x="1123950" y="4171950"/>
            <a:ext cx="9010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Computer vision is a field of AI.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5276AF-509E-47C7-880B-886CD9EE0AF8}"/>
              </a:ext>
            </a:extLst>
          </p:cNvPr>
          <p:cNvSpPr>
            <a:spLocks noGrp="1"/>
          </p:cNvSpPr>
          <p:nvPr/>
        </p:nvSpPr>
        <p:spPr>
          <a:xfrm>
            <a:off x="895350" y="4810125"/>
            <a:ext cx="95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A97906-7F15-4DD1-91E8-45A2E5BB0001}"/>
              </a:ext>
            </a:extLst>
          </p:cNvPr>
          <p:cNvSpPr>
            <a:spLocks noGrp="1"/>
          </p:cNvSpPr>
          <p:nvPr/>
        </p:nvSpPr>
        <p:spPr>
          <a:xfrm>
            <a:off x="1123950" y="4686300"/>
            <a:ext cx="9010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It works with images and videos.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F46C69-0F21-4E50-902E-B2184B0296E8}"/>
              </a:ext>
            </a:extLst>
          </p:cNvPr>
          <p:cNvSpPr>
            <a:spLocks noGrp="1"/>
          </p:cNvSpPr>
          <p:nvPr/>
        </p:nvSpPr>
        <p:spPr>
          <a:xfrm>
            <a:off x="895350" y="5324475"/>
            <a:ext cx="95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6BCAB4-F212-46C6-8D32-B77D984D8504}"/>
              </a:ext>
            </a:extLst>
          </p:cNvPr>
          <p:cNvSpPr>
            <a:spLocks noGrp="1"/>
          </p:cNvSpPr>
          <p:nvPr/>
        </p:nvSpPr>
        <p:spPr>
          <a:xfrm>
            <a:off x="1123950" y="5200650"/>
            <a:ext cx="9010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goal is to detect, classify, or understand objects.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25F578-6DD4-4144-AD5A-8489CE323874}"/>
              </a:ext>
            </a:extLst>
          </p:cNvPr>
          <p:cNvSpPr>
            <a:spLocks noGrp="1"/>
          </p:cNvSpPr>
          <p:nvPr/>
        </p:nvSpPr>
        <p:spPr>
          <a:xfrm>
            <a:off x="914400" y="5791200"/>
            <a:ext cx="9334500" cy="400050"/>
          </a:xfrm>
          <a:prstGeom prst="rect">
            <a:avLst/>
          </a:prstGeom>
          <a:solidFill>
            <a:srgbClr val="FFEDD5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76200" rIns="152400" bIns="76200" anchor="t"/>
          <a:lstStyle/>
          <a:p>
            <a:pPr algn="l">
              <a:defRPr sz="15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Simple idea: the computer looks at pixels and learns patterns from examples.</a:t>
            </a:r>
          </a:p>
        </p:txBody>
      </p:sp>
    </p:spTree>
    <p:extLst>
      <p:ext uri="{BB962C8B-B14F-4D97-AF65-F5344CB8AC3E}">
        <p14:creationId xmlns:p14="http://schemas.microsoft.com/office/powerpoint/2010/main" val="110278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7150601-5BC6-404B-AE16-65FC77F6F4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57872-35C1-47D7-97FB-ADAE851F4D6B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3DA8B-4256-4338-A93B-ED6C8B3BA000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4DE56-070B-4506-A8DA-484A87427CB4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03-marker">
            <a:extLst>
              <a:ext uri="{FF2B5EF4-FFF2-40B4-BE49-F238E27FC236}">
                <a16:creationId xmlns:a16="http://schemas.microsoft.com/office/drawing/2014/main" id="{1C589ECE-9E49-4B1D-AD7A-F032C0120C63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3-label">
            <a:extLst>
              <a:ext uri="{FF2B5EF4-FFF2-40B4-BE49-F238E27FC236}">
                <a16:creationId xmlns:a16="http://schemas.microsoft.com/office/drawing/2014/main" id="{5BCB3CC1-EC89-43A1-B360-AD7621C610E3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F3C76-B949-47C5-9233-187CC93AFE9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ANN learns patterns using connected layers.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E265DF-1199-454C-B13C-7B86FBFC0AF2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Artificial Neural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9AAFD8-6842-4CE2-9E78-D6AF176FD213}"/>
              </a:ext>
            </a:extLst>
          </p:cNvPr>
          <p:cNvSpPr>
            <a:spLocks noGrp="1"/>
          </p:cNvSpPr>
          <p:nvPr/>
        </p:nvSpPr>
        <p:spPr>
          <a:xfrm>
            <a:off x="800100" y="23717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9E227-CB40-45F3-BDF6-004E223BB080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453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ANN is inspired by the human brain idea.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D6AA1-ECE9-42DD-894A-CB2E4F00E6CE}"/>
              </a:ext>
            </a:extLst>
          </p:cNvPr>
          <p:cNvSpPr>
            <a:spLocks noGrp="1"/>
          </p:cNvSpPr>
          <p:nvPr/>
        </p:nvSpPr>
        <p:spPr>
          <a:xfrm>
            <a:off x="800100" y="29813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3CCCDD-F343-4B90-8355-2EB21CBC6C5A}"/>
              </a:ext>
            </a:extLst>
          </p:cNvPr>
          <p:cNvSpPr>
            <a:spLocks noGrp="1"/>
          </p:cNvSpPr>
          <p:nvPr/>
        </p:nvSpPr>
        <p:spPr>
          <a:xfrm>
            <a:off x="1028700" y="2857500"/>
            <a:ext cx="453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It has input, hidden, and output layers.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2D39B-83FD-4013-BE39-35EDF7C99019}"/>
              </a:ext>
            </a:extLst>
          </p:cNvPr>
          <p:cNvSpPr>
            <a:spLocks noGrp="1"/>
          </p:cNvSpPr>
          <p:nvPr/>
        </p:nvSpPr>
        <p:spPr>
          <a:xfrm>
            <a:off x="800100" y="35909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5E198-52D0-4269-BA6E-DF123F5BE453}"/>
              </a:ext>
            </a:extLst>
          </p:cNvPr>
          <p:cNvSpPr>
            <a:spLocks noGrp="1"/>
          </p:cNvSpPr>
          <p:nvPr/>
        </p:nvSpPr>
        <p:spPr>
          <a:xfrm>
            <a:off x="1028700" y="3467100"/>
            <a:ext cx="453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It can learn from many examples.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78D87C-1829-496F-94E7-EB3732AA9417}"/>
              </a:ext>
            </a:extLst>
          </p:cNvPr>
          <p:cNvSpPr>
            <a:spLocks noGrp="1"/>
          </p:cNvSpPr>
          <p:nvPr/>
        </p:nvSpPr>
        <p:spPr>
          <a:xfrm>
            <a:off x="800100" y="42005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A2967-FCDA-4A9C-B252-12E1EF881E48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453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For images, a plain ANN may lose spatial information.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66AA10-1EB1-424B-8E27-FC4ADCFC28F2}"/>
              </a:ext>
            </a:extLst>
          </p:cNvPr>
          <p:cNvSpPr>
            <a:spLocks noGrp="1"/>
          </p:cNvSpPr>
          <p:nvPr/>
        </p:nvSpPr>
        <p:spPr>
          <a:xfrm>
            <a:off x="5924550" y="2762250"/>
            <a:ext cx="1333500" cy="87630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B1B5F4-B9BC-4DFB-AAE5-519976A1697A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110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Input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pixels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B7CB16-2F44-4A99-9D71-4A686B48A555}"/>
              </a:ext>
            </a:extLst>
          </p:cNvPr>
          <p:cNvSpPr>
            <a:spLocks noGrp="1"/>
          </p:cNvSpPr>
          <p:nvPr/>
        </p:nvSpPr>
        <p:spPr>
          <a:xfrm>
            <a:off x="7391400" y="3162300"/>
            <a:ext cx="45720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C4359E-8351-429B-B934-006BECC23909}"/>
              </a:ext>
            </a:extLst>
          </p:cNvPr>
          <p:cNvSpPr>
            <a:spLocks noGrp="1"/>
          </p:cNvSpPr>
          <p:nvPr/>
        </p:nvSpPr>
        <p:spPr>
          <a:xfrm>
            <a:off x="7810500" y="30575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619205-30D6-44F8-92A3-5E5B96D71161}"/>
              </a:ext>
            </a:extLst>
          </p:cNvPr>
          <p:cNvSpPr>
            <a:spLocks noGrp="1"/>
          </p:cNvSpPr>
          <p:nvPr/>
        </p:nvSpPr>
        <p:spPr>
          <a:xfrm>
            <a:off x="8191500" y="2762250"/>
            <a:ext cx="1428750" cy="87630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DBD547-E247-4E2C-81BB-0824EF662590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1200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Hidden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layers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11598D-0C8A-41CA-A112-A0F521CF9CA1}"/>
              </a:ext>
            </a:extLst>
          </p:cNvPr>
          <p:cNvSpPr>
            <a:spLocks noGrp="1"/>
          </p:cNvSpPr>
          <p:nvPr/>
        </p:nvSpPr>
        <p:spPr>
          <a:xfrm>
            <a:off x="9772650" y="3162300"/>
            <a:ext cx="3619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86CE89-F6A7-4052-9B75-608F446A9082}"/>
              </a:ext>
            </a:extLst>
          </p:cNvPr>
          <p:cNvSpPr>
            <a:spLocks noGrp="1"/>
          </p:cNvSpPr>
          <p:nvPr/>
        </p:nvSpPr>
        <p:spPr>
          <a:xfrm>
            <a:off x="10096500" y="30575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F2280A-603F-4544-9C53-B024163311CA}"/>
              </a:ext>
            </a:extLst>
          </p:cNvPr>
          <p:cNvSpPr>
            <a:spLocks noGrp="1"/>
          </p:cNvSpPr>
          <p:nvPr/>
        </p:nvSpPr>
        <p:spPr>
          <a:xfrm>
            <a:off x="10477500" y="2762250"/>
            <a:ext cx="1257300" cy="8763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0C1416-C5AC-4485-A21A-3D9B07E38787}"/>
              </a:ext>
            </a:extLst>
          </p:cNvPr>
          <p:cNvSpPr>
            <a:spLocks noGrp="1"/>
          </p:cNvSpPr>
          <p:nvPr/>
        </p:nvSpPr>
        <p:spPr>
          <a:xfrm>
            <a:off x="10591800" y="2914650"/>
            <a:ext cx="1028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Output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DF977D-993A-4AD9-B790-53D4AF9E6482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BBB368-EBDE-4286-BB5E-E2869BA21E8E}"/>
              </a:ext>
            </a:extLst>
          </p:cNvPr>
          <p:cNvSpPr>
            <a:spLocks noGrp="1"/>
          </p:cNvSpPr>
          <p:nvPr/>
        </p:nvSpPr>
        <p:spPr>
          <a:xfrm>
            <a:off x="6286500" y="4552950"/>
            <a:ext cx="4476750" cy="685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 lIns="152400" tIns="114300" rIns="152400" bIns="1143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If we give many animal pictures, an ANN can learn to say dog, cat, horse, etc.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74FE07-5F11-4E7D-A3AA-45A3E8F4FCEF}"/>
              </a:ext>
            </a:extLst>
          </p:cNvPr>
          <p:cNvSpPr>
            <a:spLocks noGrp="1"/>
          </p:cNvSpPr>
          <p:nvPr/>
        </p:nvSpPr>
        <p:spPr>
          <a:xfrm>
            <a:off x="800100" y="5772150"/>
            <a:ext cx="9810750" cy="40005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76200" rIns="152400" bIns="76200" anchor="t"/>
          <a:lstStyle/>
          <a:p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Beginner note: ANN is the base idea. CNN and Transformers are more special designs.</a:t>
            </a:r>
          </a:p>
        </p:txBody>
      </p:sp>
    </p:spTree>
    <p:extLst>
      <p:ext uri="{BB962C8B-B14F-4D97-AF65-F5344CB8AC3E}">
        <p14:creationId xmlns:p14="http://schemas.microsoft.com/office/powerpoint/2010/main" val="152240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51534B9-B6AF-4DB6-85DE-6D14428024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F8923-8DF1-4211-95F5-2FA5DD0EFA1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F4E5A8-854E-4483-8AAE-96D7BA08605C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DA9B5F-8F47-43DD-8F68-7D99DEE6562F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04-marker">
            <a:extLst>
              <a:ext uri="{FF2B5EF4-FFF2-40B4-BE49-F238E27FC236}">
                <a16:creationId xmlns:a16="http://schemas.microsoft.com/office/drawing/2014/main" id="{1337E94C-1351-4771-883F-08D0736ABC13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4-label">
            <a:extLst>
              <a:ext uri="{FF2B5EF4-FFF2-40B4-BE49-F238E27FC236}">
                <a16:creationId xmlns:a16="http://schemas.microsoft.com/office/drawing/2014/main" id="{9031082F-228F-4A99-B9F3-5B28A6D3792A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46D66-3AE6-4F85-A69D-3C672D17E5F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CNN is useful because it scans small parts of an image.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BA272-14C4-4C55-B05C-BC0A7A8CFBED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400050" cy="40005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5D40E-9688-49CF-BF61-6FD7F2F39D3F}"/>
              </a:ext>
            </a:extLst>
          </p:cNvPr>
          <p:cNvSpPr>
            <a:spLocks noGrp="1"/>
          </p:cNvSpPr>
          <p:nvPr/>
        </p:nvSpPr>
        <p:spPr>
          <a:xfrm>
            <a:off x="1257300" y="2171700"/>
            <a:ext cx="400050" cy="40005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CA001-FF29-49AE-B110-1EDAEA565B02}"/>
              </a:ext>
            </a:extLst>
          </p:cNvPr>
          <p:cNvSpPr>
            <a:spLocks noGrp="1"/>
          </p:cNvSpPr>
          <p:nvPr/>
        </p:nvSpPr>
        <p:spPr>
          <a:xfrm>
            <a:off x="1695450" y="2171700"/>
            <a:ext cx="400050" cy="400050"/>
          </a:xfrm>
          <a:prstGeom prst="rect">
            <a:avLst/>
          </a:prstGeom>
          <a:solidFill>
            <a:srgbClr val="FFEDD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B9CA36-62EB-48E0-9003-B1686A059F8E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400050" cy="40005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31669D-5A37-4653-A9CF-3C4894FBD205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400050" cy="40005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03C4A7-0137-4822-A6AC-E0618C302DD7}"/>
              </a:ext>
            </a:extLst>
          </p:cNvPr>
          <p:cNvSpPr>
            <a:spLocks noGrp="1"/>
          </p:cNvSpPr>
          <p:nvPr/>
        </p:nvSpPr>
        <p:spPr>
          <a:xfrm>
            <a:off x="1695450" y="2609850"/>
            <a:ext cx="400050" cy="400050"/>
          </a:xfrm>
          <a:prstGeom prst="rect">
            <a:avLst/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977CE2-506A-40CA-8792-9456F87C3DCA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400050" cy="400050"/>
          </a:xfrm>
          <a:prstGeom prst="rect">
            <a:avLst/>
          </a:prstGeom>
          <a:solidFill>
            <a:srgbClr val="FCE7F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3AC5AB-F9B4-44F1-939A-F10CBCA70706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400050" cy="400050"/>
          </a:xfrm>
          <a:prstGeom prst="rect">
            <a:avLst/>
          </a:prstGeom>
          <a:solidFill>
            <a:srgbClr val="ECFCC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F1E779-6A61-4ECC-974A-DB90D0CB2EE6}"/>
              </a:ext>
            </a:extLst>
          </p:cNvPr>
          <p:cNvSpPr>
            <a:spLocks noGrp="1"/>
          </p:cNvSpPr>
          <p:nvPr/>
        </p:nvSpPr>
        <p:spPr>
          <a:xfrm>
            <a:off x="1695450" y="3048000"/>
            <a:ext cx="400050" cy="400050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B1D7B-2EA6-4A38-B024-8768351A2133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8382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D23623-033A-44DF-8524-AF0EF92551B9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2190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small filter</a:t>
            </a:r>
          </a:p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slides over image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D7E3D9-6417-4892-952F-6371CD5506E8}"/>
              </a:ext>
            </a:extLst>
          </p:cNvPr>
          <p:cNvSpPr>
            <a:spLocks noGrp="1"/>
          </p:cNvSpPr>
          <p:nvPr/>
        </p:nvSpPr>
        <p:spPr>
          <a:xfrm>
            <a:off x="3733800" y="2076450"/>
            <a:ext cx="1714500" cy="12573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7CFBB3-0F08-4FFF-A3DA-E44A753F33F5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476250" cy="476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86A30-F79A-4345-858A-377FFD8C9D71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476250" cy="476250"/>
          </a:xfrm>
          <a:prstGeom prst="rect">
            <a:avLst/>
          </a:prstGeom>
          <a:solidFill>
            <a:srgbClr val="BBF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B18082-F32E-4B57-8231-C3EE6227D683}"/>
              </a:ext>
            </a:extLst>
          </p:cNvPr>
          <p:cNvSpPr>
            <a:spLocks noGrp="1"/>
          </p:cNvSpPr>
          <p:nvPr/>
        </p:nvSpPr>
        <p:spPr>
          <a:xfrm>
            <a:off x="4324350" y="2895600"/>
            <a:ext cx="476250" cy="24765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936438-AD5D-43A6-BA9B-483AF81B6233}"/>
              </a:ext>
            </a:extLst>
          </p:cNvPr>
          <p:cNvSpPr>
            <a:spLocks noGrp="1"/>
          </p:cNvSpPr>
          <p:nvPr/>
        </p:nvSpPr>
        <p:spPr>
          <a:xfrm>
            <a:off x="3695700" y="34861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feature 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35D5FC-C474-4D4C-85D8-CED4DEAF2761}"/>
              </a:ext>
            </a:extLst>
          </p:cNvPr>
          <p:cNvSpPr>
            <a:spLocks noGrp="1"/>
          </p:cNvSpPr>
          <p:nvPr/>
        </p:nvSpPr>
        <p:spPr>
          <a:xfrm>
            <a:off x="6400800" y="2219325"/>
            <a:ext cx="95250" cy="95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E530FC-E751-4941-90BE-44D5BC8D58AF}"/>
              </a:ext>
            </a:extLst>
          </p:cNvPr>
          <p:cNvSpPr>
            <a:spLocks noGrp="1"/>
          </p:cNvSpPr>
          <p:nvPr/>
        </p:nvSpPr>
        <p:spPr>
          <a:xfrm>
            <a:off x="6629400" y="2095500"/>
            <a:ext cx="42957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CNN means Convolutional Neural Network.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2EB649-27CD-4C8F-A7CB-FADF91A556BF}"/>
              </a:ext>
            </a:extLst>
          </p:cNvPr>
          <p:cNvSpPr>
            <a:spLocks noGrp="1"/>
          </p:cNvSpPr>
          <p:nvPr/>
        </p:nvSpPr>
        <p:spPr>
          <a:xfrm>
            <a:off x="6400800" y="2828925"/>
            <a:ext cx="95250" cy="95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14CE23-AFD6-4508-AA14-97F50E748A93}"/>
              </a:ext>
            </a:extLst>
          </p:cNvPr>
          <p:cNvSpPr>
            <a:spLocks noGrp="1"/>
          </p:cNvSpPr>
          <p:nvPr/>
        </p:nvSpPr>
        <p:spPr>
          <a:xfrm>
            <a:off x="6629400" y="2705100"/>
            <a:ext cx="42957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It uses filters to find edges, corners, textures, and shapes.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AA07D-7400-44A8-867E-AA4C0FAB63A8}"/>
              </a:ext>
            </a:extLst>
          </p:cNvPr>
          <p:cNvSpPr>
            <a:spLocks noGrp="1"/>
          </p:cNvSpPr>
          <p:nvPr/>
        </p:nvSpPr>
        <p:spPr>
          <a:xfrm>
            <a:off x="6400800" y="3438525"/>
            <a:ext cx="95250" cy="95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748E92-629A-49AD-811E-556214F339FF}"/>
              </a:ext>
            </a:extLst>
          </p:cNvPr>
          <p:cNvSpPr>
            <a:spLocks noGrp="1"/>
          </p:cNvSpPr>
          <p:nvPr/>
        </p:nvSpPr>
        <p:spPr>
          <a:xfrm>
            <a:off x="6629400" y="3314700"/>
            <a:ext cx="42957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Later layers combine small features into bigger objects.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EAED49-C2A0-4BF5-B866-9DBEF22EC989}"/>
              </a:ext>
            </a:extLst>
          </p:cNvPr>
          <p:cNvSpPr>
            <a:spLocks noGrp="1"/>
          </p:cNvSpPr>
          <p:nvPr/>
        </p:nvSpPr>
        <p:spPr>
          <a:xfrm>
            <a:off x="6400800" y="4048125"/>
            <a:ext cx="95250" cy="95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F106D7-56E4-4D9C-8145-E2B7557317AD}"/>
              </a:ext>
            </a:extLst>
          </p:cNvPr>
          <p:cNvSpPr>
            <a:spLocks noGrp="1"/>
          </p:cNvSpPr>
          <p:nvPr/>
        </p:nvSpPr>
        <p:spPr>
          <a:xfrm>
            <a:off x="6629400" y="3924300"/>
            <a:ext cx="42957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is why CNN became popular for image classification.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8542BA-29B8-4BB1-9810-22F2552E813F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9620250" cy="49530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  <p:txBody>
          <a:bodyPr lIns="171450" tIns="114300" rIns="171450" bIns="114300" anchor="t"/>
          <a:lstStyle/>
          <a:p>
            <a:pPr algn="l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Simple example: first it may find edges, then eyes, then maybe a full face.</a:t>
            </a:r>
          </a:p>
        </p:txBody>
      </p:sp>
    </p:spTree>
    <p:extLst>
      <p:ext uri="{BB962C8B-B14F-4D97-AF65-F5344CB8AC3E}">
        <p14:creationId xmlns:p14="http://schemas.microsoft.com/office/powerpoint/2010/main" val="90588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609BFFF-B6D3-4853-BC3E-267C1BB3BFE8}"/>
              </a:ext>
            </a:extLst>
          </p:cNvPr>
          <p:cNvSpPr>
            <a:spLocks noGrp="1"/>
          </p:cNvSpPr>
          <p:nvPr/>
        </p:nvSpPr>
        <p:spPr>
          <a:xfrm>
            <a:off x="-533400" y="-7989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41A63-5973-4A13-8F9A-115C2240C87E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D6A91-E184-49A0-9204-6F50839F3C6A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05-marker">
            <a:extLst>
              <a:ext uri="{FF2B5EF4-FFF2-40B4-BE49-F238E27FC236}">
                <a16:creationId xmlns:a16="http://schemas.microsoft.com/office/drawing/2014/main" id="{502724F7-3C1F-4581-AB2D-FAB0D1856AE7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5-label">
            <a:extLst>
              <a:ext uri="{FF2B5EF4-FFF2-40B4-BE49-F238E27FC236}">
                <a16:creationId xmlns:a16="http://schemas.microsoft.com/office/drawing/2014/main" id="{F8951AAA-6E67-4158-9B44-56156B93EDDD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CNN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0F03E-87A3-4761-B6F5-92527B33E03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A CNN changes pixels into features and then a prediction.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6FA524-F101-4415-92EC-C40DE0DB8194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1238250" cy="95250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1F275-8A02-467D-9A60-C865735190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009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Image</a:t>
            </a:r>
          </a:p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pixels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856DD-29F8-4BE0-B1C9-7B710356F6EA}"/>
              </a:ext>
            </a:extLst>
          </p:cNvPr>
          <p:cNvSpPr>
            <a:spLocks noGrp="1"/>
          </p:cNvSpPr>
          <p:nvPr/>
        </p:nvSpPr>
        <p:spPr>
          <a:xfrm>
            <a:off x="2114550" y="2790825"/>
            <a:ext cx="3619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615028-30C8-4C86-B9F4-8BC337504E0C}"/>
              </a:ext>
            </a:extLst>
          </p:cNvPr>
          <p:cNvSpPr>
            <a:spLocks noGrp="1"/>
          </p:cNvSpPr>
          <p:nvPr/>
        </p:nvSpPr>
        <p:spPr>
          <a:xfrm>
            <a:off x="243840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0C0A46-D81C-48AC-8E3B-0EE1C67626BA}"/>
              </a:ext>
            </a:extLst>
          </p:cNvPr>
          <p:cNvSpPr>
            <a:spLocks noGrp="1"/>
          </p:cNvSpPr>
          <p:nvPr/>
        </p:nvSpPr>
        <p:spPr>
          <a:xfrm>
            <a:off x="2800350" y="2343150"/>
            <a:ext cx="1524000" cy="9525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B23A7F-D913-4150-A32C-6D648962CA79}"/>
              </a:ext>
            </a:extLst>
          </p:cNvPr>
          <p:cNvSpPr>
            <a:spLocks noGrp="1"/>
          </p:cNvSpPr>
          <p:nvPr/>
        </p:nvSpPr>
        <p:spPr>
          <a:xfrm>
            <a:off x="2914650" y="2495550"/>
            <a:ext cx="1295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Convolution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FD387D-B184-47FF-A65A-0977504EC0AD}"/>
              </a:ext>
            </a:extLst>
          </p:cNvPr>
          <p:cNvSpPr>
            <a:spLocks noGrp="1"/>
          </p:cNvSpPr>
          <p:nvPr/>
        </p:nvSpPr>
        <p:spPr>
          <a:xfrm>
            <a:off x="4438650" y="2790825"/>
            <a:ext cx="3619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DDA7E-A208-411B-9AB8-FAA4B67481CA}"/>
              </a:ext>
            </a:extLst>
          </p:cNvPr>
          <p:cNvSpPr>
            <a:spLocks noGrp="1"/>
          </p:cNvSpPr>
          <p:nvPr/>
        </p:nvSpPr>
        <p:spPr>
          <a:xfrm>
            <a:off x="476250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8EA79-DB15-4FF7-A014-8B2FB6511D92}"/>
              </a:ext>
            </a:extLst>
          </p:cNvPr>
          <p:cNvSpPr>
            <a:spLocks noGrp="1"/>
          </p:cNvSpPr>
          <p:nvPr/>
        </p:nvSpPr>
        <p:spPr>
          <a:xfrm>
            <a:off x="5124450" y="2343150"/>
            <a:ext cx="1524000" cy="952500"/>
          </a:xfrm>
          <a:prstGeom prst="rect">
            <a:avLst/>
          </a:prstGeom>
          <a:solidFill>
            <a:srgbClr val="FFEDD5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396208-FFD7-4507-85F5-2B7B0B41EA47}"/>
              </a:ext>
            </a:extLst>
          </p:cNvPr>
          <p:cNvSpPr>
            <a:spLocks noGrp="1"/>
          </p:cNvSpPr>
          <p:nvPr/>
        </p:nvSpPr>
        <p:spPr>
          <a:xfrm>
            <a:off x="5238750" y="2495550"/>
            <a:ext cx="1295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Pooling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smaller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92D5B7-07DA-4AEC-9D6A-1C0B3052FB11}"/>
              </a:ext>
            </a:extLst>
          </p:cNvPr>
          <p:cNvSpPr>
            <a:spLocks noGrp="1"/>
          </p:cNvSpPr>
          <p:nvPr/>
        </p:nvSpPr>
        <p:spPr>
          <a:xfrm>
            <a:off x="6762750" y="2790825"/>
            <a:ext cx="3619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1A78A-EA70-45AE-9986-CDE78F910A03}"/>
              </a:ext>
            </a:extLst>
          </p:cNvPr>
          <p:cNvSpPr>
            <a:spLocks noGrp="1"/>
          </p:cNvSpPr>
          <p:nvPr/>
        </p:nvSpPr>
        <p:spPr>
          <a:xfrm>
            <a:off x="708660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9CF566-13A6-4CE7-A9DD-A4C1E8A1BDF1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1619250" cy="95250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4F82FA-BE2A-4847-BA47-2921C9849C0D}"/>
              </a:ext>
            </a:extLst>
          </p:cNvPr>
          <p:cNvSpPr>
            <a:spLocks noGrp="1"/>
          </p:cNvSpPr>
          <p:nvPr/>
        </p:nvSpPr>
        <p:spPr>
          <a:xfrm>
            <a:off x="7562850" y="2495550"/>
            <a:ext cx="1390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Dense layer</a:t>
            </a:r>
          </a:p>
          <a:p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thinking part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5C4C3A-7006-44DB-8B72-4944CEDCCC89}"/>
              </a:ext>
            </a:extLst>
          </p:cNvPr>
          <p:cNvSpPr>
            <a:spLocks noGrp="1"/>
          </p:cNvSpPr>
          <p:nvPr/>
        </p:nvSpPr>
        <p:spPr>
          <a:xfrm>
            <a:off x="9182100" y="2790825"/>
            <a:ext cx="3619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BA384B-C3C2-45D7-98D8-ACE8B54C4AFF}"/>
              </a:ext>
            </a:extLst>
          </p:cNvPr>
          <p:cNvSpPr>
            <a:spLocks noGrp="1"/>
          </p:cNvSpPr>
          <p:nvPr/>
        </p:nvSpPr>
        <p:spPr>
          <a:xfrm>
            <a:off x="9505950" y="26860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3A4D88-C63E-4759-9987-60D2219C4EEA}"/>
              </a:ext>
            </a:extLst>
          </p:cNvPr>
          <p:cNvSpPr>
            <a:spLocks noGrp="1"/>
          </p:cNvSpPr>
          <p:nvPr/>
        </p:nvSpPr>
        <p:spPr>
          <a:xfrm>
            <a:off x="9867900" y="2343150"/>
            <a:ext cx="1238250" cy="95250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B8D2A8-4090-42F7-91F2-A77BE2868B87}"/>
              </a:ext>
            </a:extLst>
          </p:cNvPr>
          <p:cNvSpPr>
            <a:spLocks noGrp="1"/>
          </p:cNvSpPr>
          <p:nvPr/>
        </p:nvSpPr>
        <p:spPr>
          <a:xfrm>
            <a:off x="9982200" y="2495550"/>
            <a:ext cx="1009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875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132F4A-53C7-4D5E-A06A-8D4B5CC117B5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What each part does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632540-2DFA-4A1F-97DA-C123EDC9BEE6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10096500" cy="1066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 lIns="171450" tIns="133350" rIns="171450" bIns="13335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Convolution: looks for useful small patterns.</a:t>
            </a: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Pooling: reduces size, keeps important information.</a:t>
            </a: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Dense layer: makes final decision using learned features.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43C5E2-8395-4D2F-A13C-8111926EDB31}"/>
              </a:ext>
            </a:extLst>
          </p:cNvPr>
          <p:cNvSpPr>
            <a:spLocks noGrp="1"/>
          </p:cNvSpPr>
          <p:nvPr/>
        </p:nvSpPr>
        <p:spPr>
          <a:xfrm>
            <a:off x="933450" y="58674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is a very basic view, but it is enough to understand the main idea.</a:t>
            </a:r>
          </a:p>
        </p:txBody>
      </p:sp>
    </p:spTree>
    <p:extLst>
      <p:ext uri="{BB962C8B-B14F-4D97-AF65-F5344CB8AC3E}">
        <p14:creationId xmlns:p14="http://schemas.microsoft.com/office/powerpoint/2010/main" val="157993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59554A9-270E-454C-961B-0BF9CD735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9EAA2-4B9E-4808-BA28-44906F02321E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E64BA-E0A6-44BF-B943-CE9D9E14D63C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102A0-CAE7-41E4-BFA9-15978BACC946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06-marker">
            <a:extLst>
              <a:ext uri="{FF2B5EF4-FFF2-40B4-BE49-F238E27FC236}">
                <a16:creationId xmlns:a16="http://schemas.microsoft.com/office/drawing/2014/main" id="{2BF5AD50-1F9E-4305-9A88-ADDDE3B6ADB2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6-label">
            <a:extLst>
              <a:ext uri="{FF2B5EF4-FFF2-40B4-BE49-F238E27FC236}">
                <a16:creationId xmlns:a16="http://schemas.microsoft.com/office/drawing/2014/main" id="{9E6B7170-3482-46D5-8873-025AE836857F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299F7C-ED9B-41D9-9B46-871DC76AACF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Vision Transformers compare image patches using attention.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61747-4790-4FEA-B3AC-C9D14F4CC481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06CE9B-50B8-4170-8045-3981C225E95D}"/>
              </a:ext>
            </a:extLst>
          </p:cNvPr>
          <p:cNvSpPr>
            <a:spLocks noGrp="1"/>
          </p:cNvSpPr>
          <p:nvPr/>
        </p:nvSpPr>
        <p:spPr>
          <a:xfrm>
            <a:off x="1276350" y="203835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49007C-B8EA-4E5C-901A-931B474C12E4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5C7BB0-1A79-4CFE-8119-BF933EDB5F70}"/>
              </a:ext>
            </a:extLst>
          </p:cNvPr>
          <p:cNvSpPr>
            <a:spLocks noGrp="1"/>
          </p:cNvSpPr>
          <p:nvPr/>
        </p:nvSpPr>
        <p:spPr>
          <a:xfrm>
            <a:off x="2228850" y="203835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4D847-1576-4428-85F0-A09C876A5BC2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65011-61E1-433B-901A-59866F02FF5E}"/>
              </a:ext>
            </a:extLst>
          </p:cNvPr>
          <p:cNvSpPr>
            <a:spLocks noGrp="1"/>
          </p:cNvSpPr>
          <p:nvPr/>
        </p:nvSpPr>
        <p:spPr>
          <a:xfrm>
            <a:off x="1276350" y="251460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CA789B-5ADF-47FB-8501-679CA2058917}"/>
              </a:ext>
            </a:extLst>
          </p:cNvPr>
          <p:cNvSpPr>
            <a:spLocks noGrp="1"/>
          </p:cNvSpPr>
          <p:nvPr/>
        </p:nvSpPr>
        <p:spPr>
          <a:xfrm>
            <a:off x="1752600" y="251460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9F2744-A7AA-4F6C-B524-6B48F93EE015}"/>
              </a:ext>
            </a:extLst>
          </p:cNvPr>
          <p:cNvSpPr>
            <a:spLocks noGrp="1"/>
          </p:cNvSpPr>
          <p:nvPr/>
        </p:nvSpPr>
        <p:spPr>
          <a:xfrm>
            <a:off x="2228850" y="251460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51021-F7FD-4A81-95B5-78690A4F4998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D8D87-B25F-4EF9-B33C-9542EA5DC45F}"/>
              </a:ext>
            </a:extLst>
          </p:cNvPr>
          <p:cNvSpPr>
            <a:spLocks noGrp="1"/>
          </p:cNvSpPr>
          <p:nvPr/>
        </p:nvSpPr>
        <p:spPr>
          <a:xfrm>
            <a:off x="1276350" y="299085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D56FF0-BC29-4115-829B-6CE7299DA39D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47A48-23B9-4C00-9EBB-ED1223775482}"/>
              </a:ext>
            </a:extLst>
          </p:cNvPr>
          <p:cNvSpPr>
            <a:spLocks noGrp="1"/>
          </p:cNvSpPr>
          <p:nvPr/>
        </p:nvSpPr>
        <p:spPr>
          <a:xfrm>
            <a:off x="2228850" y="299085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0F8238-5566-4AAE-9BF4-97B38E0CB7BD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5094A3-6E62-4A89-89D2-DD057EB7976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72DBB-2F52-45A5-91E7-DE3FCB56EB73}"/>
              </a:ext>
            </a:extLst>
          </p:cNvPr>
          <p:cNvSpPr>
            <a:spLocks noGrp="1"/>
          </p:cNvSpPr>
          <p:nvPr/>
        </p:nvSpPr>
        <p:spPr>
          <a:xfrm>
            <a:off x="1752600" y="3467100"/>
            <a:ext cx="438150" cy="4381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DA01EC-C1EE-4FFD-9B79-2B410E7CBAE8}"/>
              </a:ext>
            </a:extLst>
          </p:cNvPr>
          <p:cNvSpPr>
            <a:spLocks noGrp="1"/>
          </p:cNvSpPr>
          <p:nvPr/>
        </p:nvSpPr>
        <p:spPr>
          <a:xfrm>
            <a:off x="2228850" y="3467100"/>
            <a:ext cx="438150" cy="438150"/>
          </a:xfrm>
          <a:prstGeom prst="rect">
            <a:avLst/>
          </a:prstGeom>
          <a:solidFill>
            <a:srgbClr val="FFEDD5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57FAB3-03ED-4F08-8BE5-5A6050B40676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image split</a:t>
            </a:r>
          </a:p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into patches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2A76D3-FDCB-412C-9158-60B3DB82B498}"/>
              </a:ext>
            </a:extLst>
          </p:cNvPr>
          <p:cNvSpPr>
            <a:spLocks noGrp="1"/>
          </p:cNvSpPr>
          <p:nvPr/>
        </p:nvSpPr>
        <p:spPr>
          <a:xfrm>
            <a:off x="3105150" y="2886075"/>
            <a:ext cx="76200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67D0EB-3EB2-4048-B5AD-49AC34208EAE}"/>
              </a:ext>
            </a:extLst>
          </p:cNvPr>
          <p:cNvSpPr>
            <a:spLocks noGrp="1"/>
          </p:cNvSpPr>
          <p:nvPr/>
        </p:nvSpPr>
        <p:spPr>
          <a:xfrm>
            <a:off x="3829050" y="27813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CF11E0-B8B8-4233-9D91-77E5A41F6CBD}"/>
              </a:ext>
            </a:extLst>
          </p:cNvPr>
          <p:cNvSpPr>
            <a:spLocks noGrp="1"/>
          </p:cNvSpPr>
          <p:nvPr/>
        </p:nvSpPr>
        <p:spPr>
          <a:xfrm>
            <a:off x="4171950" y="2476500"/>
            <a:ext cx="1676400" cy="990600"/>
          </a:xfrm>
          <a:prstGeom prst="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1539C7-3275-4557-ABB7-310DC8025ED6}"/>
              </a:ext>
            </a:extLst>
          </p:cNvPr>
          <p:cNvSpPr>
            <a:spLocks noGrp="1"/>
          </p:cNvSpPr>
          <p:nvPr/>
        </p:nvSpPr>
        <p:spPr>
          <a:xfrm>
            <a:off x="4286250" y="2628900"/>
            <a:ext cx="1447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Patch</a:t>
            </a:r>
          </a:p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20F616-449B-4D91-B6D9-B9760562F2A1}"/>
              </a:ext>
            </a:extLst>
          </p:cNvPr>
          <p:cNvSpPr>
            <a:spLocks noGrp="1"/>
          </p:cNvSpPr>
          <p:nvPr/>
        </p:nvSpPr>
        <p:spPr>
          <a:xfrm>
            <a:off x="6019800" y="2886075"/>
            <a:ext cx="60960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5FFC30-DFFF-431A-A798-4A0B56AE3FA6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A3CDDB-9606-4E97-83A7-E1176931D3C0}"/>
              </a:ext>
            </a:extLst>
          </p:cNvPr>
          <p:cNvSpPr>
            <a:spLocks noGrp="1"/>
          </p:cNvSpPr>
          <p:nvPr/>
        </p:nvSpPr>
        <p:spPr>
          <a:xfrm>
            <a:off x="7048500" y="2152650"/>
            <a:ext cx="2286000" cy="161925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A14A42-9B12-44BF-89B2-618197934537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Transformer blocks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9E8709-9A8B-4043-B943-617EB265EE4A}"/>
              </a:ext>
            </a:extLst>
          </p:cNvPr>
          <p:cNvSpPr>
            <a:spLocks noGrp="1"/>
          </p:cNvSpPr>
          <p:nvPr/>
        </p:nvSpPr>
        <p:spPr>
          <a:xfrm>
            <a:off x="7620000" y="2781300"/>
            <a:ext cx="1143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attention</a:t>
            </a:r>
          </a:p>
          <a:p>
            <a:pPr algn="ctr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attention</a:t>
            </a:r>
          </a:p>
          <a:p>
            <a:pPr algn="ctr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C7C694-954A-46A9-8A10-933ECADAA5F8}"/>
              </a:ext>
            </a:extLst>
          </p:cNvPr>
          <p:cNvSpPr>
            <a:spLocks noGrp="1"/>
          </p:cNvSpPr>
          <p:nvPr/>
        </p:nvSpPr>
        <p:spPr>
          <a:xfrm>
            <a:off x="9525000" y="2886075"/>
            <a:ext cx="514350" cy="38100"/>
          </a:xfrm>
          <a:prstGeom prst="rect">
            <a:avLst/>
          </a:prstGeom>
          <a:solidFill>
            <a:srgbClr val="D1D5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DA9E52-BC03-4D07-A862-0F86DDC08164}"/>
              </a:ext>
            </a:extLst>
          </p:cNvPr>
          <p:cNvSpPr>
            <a:spLocks noGrp="1"/>
          </p:cNvSpPr>
          <p:nvPr/>
        </p:nvSpPr>
        <p:spPr>
          <a:xfrm>
            <a:off x="10001250" y="27813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D5D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D45627-7385-40A7-9953-FB86E7915270}"/>
              </a:ext>
            </a:extLst>
          </p:cNvPr>
          <p:cNvSpPr>
            <a:spLocks noGrp="1"/>
          </p:cNvSpPr>
          <p:nvPr/>
        </p:nvSpPr>
        <p:spPr>
          <a:xfrm>
            <a:off x="10382250" y="2476500"/>
            <a:ext cx="1219200" cy="9906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752242-E813-4C66-A2AD-51CCAD5AE4AC}"/>
              </a:ext>
            </a:extLst>
          </p:cNvPr>
          <p:cNvSpPr>
            <a:spLocks noGrp="1"/>
          </p:cNvSpPr>
          <p:nvPr/>
        </p:nvSpPr>
        <p:spPr>
          <a:xfrm>
            <a:off x="10496550" y="2628900"/>
            <a:ext cx="990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Output</a:t>
            </a:r>
          </a:p>
          <a:p>
            <a:pPr algn="ctr"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003EFC-C61B-4D73-8DC6-918D4CF8DF94}"/>
              </a:ext>
            </a:extLst>
          </p:cNvPr>
          <p:cNvSpPr>
            <a:spLocks noGrp="1"/>
          </p:cNvSpPr>
          <p:nvPr/>
        </p:nvSpPr>
        <p:spPr>
          <a:xfrm>
            <a:off x="800100" y="5191125"/>
            <a:ext cx="95250" cy="9525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E2391B-A3C9-4B3C-99F7-7A2EC7931E3D}"/>
              </a:ext>
            </a:extLst>
          </p:cNvPr>
          <p:cNvSpPr>
            <a:spLocks noGrp="1"/>
          </p:cNvSpPr>
          <p:nvPr/>
        </p:nvSpPr>
        <p:spPr>
          <a:xfrm>
            <a:off x="1028700" y="5067300"/>
            <a:ext cx="9201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Transformer was first famous in language tasks.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E4065A-2255-4FA8-8537-114172E05758}"/>
              </a:ext>
            </a:extLst>
          </p:cNvPr>
          <p:cNvSpPr>
            <a:spLocks noGrp="1"/>
          </p:cNvSpPr>
          <p:nvPr/>
        </p:nvSpPr>
        <p:spPr>
          <a:xfrm>
            <a:off x="800100" y="5648325"/>
            <a:ext cx="95250" cy="9525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F3D4BE-25D1-4E9C-BD25-DE64BB724A07}"/>
              </a:ext>
            </a:extLst>
          </p:cNvPr>
          <p:cNvSpPr>
            <a:spLocks noGrp="1"/>
          </p:cNvSpPr>
          <p:nvPr/>
        </p:nvSpPr>
        <p:spPr>
          <a:xfrm>
            <a:off x="1028700" y="5524500"/>
            <a:ext cx="9201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In computer vision, the image is divided into patches.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E48BAD-5FA5-4A54-926C-3DF8FAD715BC}"/>
              </a:ext>
            </a:extLst>
          </p:cNvPr>
          <p:cNvSpPr>
            <a:spLocks noGrp="1"/>
          </p:cNvSpPr>
          <p:nvPr/>
        </p:nvSpPr>
        <p:spPr>
          <a:xfrm>
            <a:off x="800100" y="6105525"/>
            <a:ext cx="95250" cy="9525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76CC3B-4975-4581-B1A7-8291F6D0120D}"/>
              </a:ext>
            </a:extLst>
          </p:cNvPr>
          <p:cNvSpPr>
            <a:spLocks noGrp="1"/>
          </p:cNvSpPr>
          <p:nvPr/>
        </p:nvSpPr>
        <p:spPr>
          <a:xfrm>
            <a:off x="1028700" y="5981700"/>
            <a:ext cx="9201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Attention helps the model compare far away parts of the image.</a:t>
            </a:r>
          </a:p>
        </p:txBody>
      </p:sp>
    </p:spTree>
    <p:extLst>
      <p:ext uri="{BB962C8B-B14F-4D97-AF65-F5344CB8AC3E}">
        <p14:creationId xmlns:p14="http://schemas.microsoft.com/office/powerpoint/2010/main" val="12354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69ED750-0901-4E11-840B-B0E6BAE4B6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E3D49-A6F3-47EF-9338-4A305EA053E6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E8EF8-7791-4E90-BFB8-15DAED7B3C3B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6335B8-A820-4F7F-BF09-84DD258C8AB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07-marker">
            <a:extLst>
              <a:ext uri="{FF2B5EF4-FFF2-40B4-BE49-F238E27FC236}">
                <a16:creationId xmlns:a16="http://schemas.microsoft.com/office/drawing/2014/main" id="{F0A5F36D-55BA-4C06-90C2-4AED4EADA9A5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7-label">
            <a:extLst>
              <a:ext uri="{FF2B5EF4-FFF2-40B4-BE49-F238E27FC236}">
                <a16:creationId xmlns:a16="http://schemas.microsoft.com/office/drawing/2014/main" id="{C7F34A14-113A-4FA0-A987-C563B1674714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06F34-0A94-4093-B242-AA5A76F7018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ANN, CNN, and Transformers have different strengths.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E97378-1610-4E72-8BE3-C0F8785A94E5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905000" cy="838200"/>
          </a:xfrm>
          <a:prstGeom prst="rect">
            <a:avLst/>
          </a:prstGeom>
          <a:solidFill>
            <a:srgbClr val="2563E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76895-921C-4227-A1E3-FC9BA75C876F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1752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l">
              <a:defRPr sz="135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4D0A6-F05A-47B6-A214-4D7BD6D87A51}"/>
              </a:ext>
            </a:extLst>
          </p:cNvPr>
          <p:cNvSpPr>
            <a:spLocks noGrp="1"/>
          </p:cNvSpPr>
          <p:nvPr/>
        </p:nvSpPr>
        <p:spPr>
          <a:xfrm>
            <a:off x="2647950" y="1866900"/>
            <a:ext cx="3048000" cy="838200"/>
          </a:xfrm>
          <a:prstGeom prst="rect">
            <a:avLst/>
          </a:prstGeom>
          <a:solidFill>
            <a:srgbClr val="2563E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A9E755-D5A3-4A0F-A814-5994B8ECE1A2}"/>
              </a:ext>
            </a:extLst>
          </p:cNvPr>
          <p:cNvSpPr>
            <a:spLocks noGrp="1"/>
          </p:cNvSpPr>
          <p:nvPr/>
        </p:nvSpPr>
        <p:spPr>
          <a:xfrm>
            <a:off x="2724150" y="1924050"/>
            <a:ext cx="2895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35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Main idea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DA5B03-23AF-466C-878D-34FA90069A02}"/>
              </a:ext>
            </a:extLst>
          </p:cNvPr>
          <p:cNvSpPr>
            <a:spLocks noGrp="1"/>
          </p:cNvSpPr>
          <p:nvPr/>
        </p:nvSpPr>
        <p:spPr>
          <a:xfrm>
            <a:off x="5695950" y="1866900"/>
            <a:ext cx="2952750" cy="838200"/>
          </a:xfrm>
          <a:prstGeom prst="rect">
            <a:avLst/>
          </a:prstGeom>
          <a:solidFill>
            <a:srgbClr val="2563E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5B09EB-4B26-4095-A310-846B43E43C30}"/>
              </a:ext>
            </a:extLst>
          </p:cNvPr>
          <p:cNvSpPr>
            <a:spLocks noGrp="1"/>
          </p:cNvSpPr>
          <p:nvPr/>
        </p:nvSpPr>
        <p:spPr>
          <a:xfrm>
            <a:off x="5772150" y="1924050"/>
            <a:ext cx="2800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35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Good for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B1736-28D1-4F7A-8E0F-07DBE38304E6}"/>
              </a:ext>
            </a:extLst>
          </p:cNvPr>
          <p:cNvSpPr>
            <a:spLocks noGrp="1"/>
          </p:cNvSpPr>
          <p:nvPr/>
        </p:nvSpPr>
        <p:spPr>
          <a:xfrm>
            <a:off x="8648700" y="1866900"/>
            <a:ext cx="2762250" cy="838200"/>
          </a:xfrm>
          <a:prstGeom prst="rect">
            <a:avLst/>
          </a:prstGeom>
          <a:solidFill>
            <a:srgbClr val="2563E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479C18-2C58-473C-A740-BA9ACAA8AF20}"/>
              </a:ext>
            </a:extLst>
          </p:cNvPr>
          <p:cNvSpPr>
            <a:spLocks noGrp="1"/>
          </p:cNvSpPr>
          <p:nvPr/>
        </p:nvSpPr>
        <p:spPr>
          <a:xfrm>
            <a:off x="8724900" y="1924050"/>
            <a:ext cx="26098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35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Weak point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912DA1-0164-43FF-97E0-4D4E92E89DCA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1905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68E4B-1915-451D-8417-3D7DAE8F1F0D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1752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ANN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06C0D-3C26-413C-AEF5-4B35AA03C368}"/>
              </a:ext>
            </a:extLst>
          </p:cNvPr>
          <p:cNvSpPr>
            <a:spLocks noGrp="1"/>
          </p:cNvSpPr>
          <p:nvPr/>
        </p:nvSpPr>
        <p:spPr>
          <a:xfrm>
            <a:off x="2647950" y="2705100"/>
            <a:ext cx="3048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6F650-284C-41DE-AA16-45889D2C44FD}"/>
              </a:ext>
            </a:extLst>
          </p:cNvPr>
          <p:cNvSpPr>
            <a:spLocks noGrp="1"/>
          </p:cNvSpPr>
          <p:nvPr/>
        </p:nvSpPr>
        <p:spPr>
          <a:xfrm>
            <a:off x="2724150" y="2762250"/>
            <a:ext cx="2895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Connected layers learn patterns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DA9883-CF95-4BB2-9058-483F87B4A2CF}"/>
              </a:ext>
            </a:extLst>
          </p:cNvPr>
          <p:cNvSpPr>
            <a:spLocks noGrp="1"/>
          </p:cNvSpPr>
          <p:nvPr/>
        </p:nvSpPr>
        <p:spPr>
          <a:xfrm>
            <a:off x="5695950" y="2705100"/>
            <a:ext cx="29527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E5E8E-6086-421E-9426-8C885DC2B4BD}"/>
              </a:ext>
            </a:extLst>
          </p:cNvPr>
          <p:cNvSpPr>
            <a:spLocks noGrp="1"/>
          </p:cNvSpPr>
          <p:nvPr/>
        </p:nvSpPr>
        <p:spPr>
          <a:xfrm>
            <a:off x="5772150" y="2762250"/>
            <a:ext cx="2800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basic learning problems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A5FA6-64A3-442F-9FF4-594213B4A633}"/>
              </a:ext>
            </a:extLst>
          </p:cNvPr>
          <p:cNvSpPr>
            <a:spLocks noGrp="1"/>
          </p:cNvSpPr>
          <p:nvPr/>
        </p:nvSpPr>
        <p:spPr>
          <a:xfrm>
            <a:off x="8648700" y="2705100"/>
            <a:ext cx="27622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75C04B-1B81-48C7-8647-601BAE6045A8}"/>
              </a:ext>
            </a:extLst>
          </p:cNvPr>
          <p:cNvSpPr>
            <a:spLocks noGrp="1"/>
          </p:cNvSpPr>
          <p:nvPr/>
        </p:nvSpPr>
        <p:spPr>
          <a:xfrm>
            <a:off x="8724900" y="2762250"/>
            <a:ext cx="26098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not best for image structure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983C0D-4CB7-4EC1-B27E-ED73D701DF07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1905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EA8C8C-0695-49E0-8B57-CB53D45AF5DC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1752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68F33F-9E38-4E2D-B904-26F1677C620C}"/>
              </a:ext>
            </a:extLst>
          </p:cNvPr>
          <p:cNvSpPr>
            <a:spLocks noGrp="1"/>
          </p:cNvSpPr>
          <p:nvPr/>
        </p:nvSpPr>
        <p:spPr>
          <a:xfrm>
            <a:off x="2647950" y="3543300"/>
            <a:ext cx="3048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D67F80-F464-4008-A3A7-1BFC3C67967C}"/>
              </a:ext>
            </a:extLst>
          </p:cNvPr>
          <p:cNvSpPr>
            <a:spLocks noGrp="1"/>
          </p:cNvSpPr>
          <p:nvPr/>
        </p:nvSpPr>
        <p:spPr>
          <a:xfrm>
            <a:off x="2724150" y="3600450"/>
            <a:ext cx="2895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Filters scan small image areas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E10FFC-C1EF-48AA-A780-7FBC084ACF84}"/>
              </a:ext>
            </a:extLst>
          </p:cNvPr>
          <p:cNvSpPr>
            <a:spLocks noGrp="1"/>
          </p:cNvSpPr>
          <p:nvPr/>
        </p:nvSpPr>
        <p:spPr>
          <a:xfrm>
            <a:off x="5695950" y="3543300"/>
            <a:ext cx="29527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F93303-FBCB-4963-A925-C4C3190F6537}"/>
              </a:ext>
            </a:extLst>
          </p:cNvPr>
          <p:cNvSpPr>
            <a:spLocks noGrp="1"/>
          </p:cNvSpPr>
          <p:nvPr/>
        </p:nvSpPr>
        <p:spPr>
          <a:xfrm>
            <a:off x="5772150" y="3600450"/>
            <a:ext cx="2800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image classification and detection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13D51B-9DE3-4662-B9FC-EB4B986811BA}"/>
              </a:ext>
            </a:extLst>
          </p:cNvPr>
          <p:cNvSpPr>
            <a:spLocks noGrp="1"/>
          </p:cNvSpPr>
          <p:nvPr/>
        </p:nvSpPr>
        <p:spPr>
          <a:xfrm>
            <a:off x="8648700" y="3543300"/>
            <a:ext cx="27622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0D3AFC-8E63-440E-B940-12B2C0AAE6FC}"/>
              </a:ext>
            </a:extLst>
          </p:cNvPr>
          <p:cNvSpPr>
            <a:spLocks noGrp="1"/>
          </p:cNvSpPr>
          <p:nvPr/>
        </p:nvSpPr>
        <p:spPr>
          <a:xfrm>
            <a:off x="8724900" y="3600450"/>
            <a:ext cx="26098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may need many layers/data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504084-CA49-44F2-AF50-081BFAA45FE3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1905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D42651-A4E1-46BF-A75A-5F18F50C8D76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1752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046648-5F2A-4A67-AB2E-E214D283BD09}"/>
              </a:ext>
            </a:extLst>
          </p:cNvPr>
          <p:cNvSpPr>
            <a:spLocks noGrp="1"/>
          </p:cNvSpPr>
          <p:nvPr/>
        </p:nvSpPr>
        <p:spPr>
          <a:xfrm>
            <a:off x="2647950" y="4381500"/>
            <a:ext cx="304800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B9A85B-B281-4205-A89C-A492D86F9337}"/>
              </a:ext>
            </a:extLst>
          </p:cNvPr>
          <p:cNvSpPr>
            <a:spLocks noGrp="1"/>
          </p:cNvSpPr>
          <p:nvPr/>
        </p:nvSpPr>
        <p:spPr>
          <a:xfrm>
            <a:off x="2724150" y="4438650"/>
            <a:ext cx="2895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Attention compares patches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A6CE51-3F68-4EFC-8F90-C6389D2EB500}"/>
              </a:ext>
            </a:extLst>
          </p:cNvPr>
          <p:cNvSpPr>
            <a:spLocks noGrp="1"/>
          </p:cNvSpPr>
          <p:nvPr/>
        </p:nvSpPr>
        <p:spPr>
          <a:xfrm>
            <a:off x="5695950" y="4381500"/>
            <a:ext cx="29527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55081E-97E9-4F37-AB04-D941579EA01E}"/>
              </a:ext>
            </a:extLst>
          </p:cNvPr>
          <p:cNvSpPr>
            <a:spLocks noGrp="1"/>
          </p:cNvSpPr>
          <p:nvPr/>
        </p:nvSpPr>
        <p:spPr>
          <a:xfrm>
            <a:off x="5772150" y="4438650"/>
            <a:ext cx="2800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large vision tasks and context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B91D21-BAE6-447E-8429-FD8262203315}"/>
              </a:ext>
            </a:extLst>
          </p:cNvPr>
          <p:cNvSpPr>
            <a:spLocks noGrp="1"/>
          </p:cNvSpPr>
          <p:nvPr/>
        </p:nvSpPr>
        <p:spPr>
          <a:xfrm>
            <a:off x="8648700" y="4381500"/>
            <a:ext cx="2762250" cy="838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4BA60C-DFBB-47F0-86F7-A9570714650A}"/>
              </a:ext>
            </a:extLst>
          </p:cNvPr>
          <p:cNvSpPr>
            <a:spLocks noGrp="1"/>
          </p:cNvSpPr>
          <p:nvPr/>
        </p:nvSpPr>
        <p:spPr>
          <a:xfrm>
            <a:off x="8724900" y="4438650"/>
            <a:ext cx="26098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can need lots of data/compute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BFDB83-ECEF-4E1B-81C5-A9DFAC9BF0E1}"/>
              </a:ext>
            </a:extLst>
          </p:cNvPr>
          <p:cNvSpPr>
            <a:spLocks noGrp="1"/>
          </p:cNvSpPr>
          <p:nvPr/>
        </p:nvSpPr>
        <p:spPr>
          <a:xfrm>
            <a:off x="781050" y="5600700"/>
            <a:ext cx="10001250" cy="43815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txBody>
          <a:bodyPr lIns="171450" tIns="85725" rIns="171450" bIns="85725" anchor="t"/>
          <a:lstStyle/>
          <a:p>
            <a:pPr algn="l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Very short summary: ANN is general, CNN is image-specialized, Transformer is attention-based.</a:t>
            </a:r>
          </a:p>
        </p:txBody>
      </p:sp>
    </p:spTree>
    <p:extLst>
      <p:ext uri="{BB962C8B-B14F-4D97-AF65-F5344CB8AC3E}">
        <p14:creationId xmlns:p14="http://schemas.microsoft.com/office/powerpoint/2010/main" val="138738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9C53B3E-D0B4-4949-82F7-0F09031D4A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2ACF78-1417-4D33-AF7C-82F54CC2C16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6E342-27C0-4C7E-AD0E-48E29E21668A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B317DC-84F4-4A02-BF6A-5235E2051648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08-marker">
            <a:extLst>
              <a:ext uri="{FF2B5EF4-FFF2-40B4-BE49-F238E27FC236}">
                <a16:creationId xmlns:a16="http://schemas.microsoft.com/office/drawing/2014/main" id="{C27FE875-F6EC-4BD1-A57B-F2FE3B71A1A6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8-label">
            <a:extLst>
              <a:ext uri="{FF2B5EF4-FFF2-40B4-BE49-F238E27FC236}">
                <a16:creationId xmlns:a16="http://schemas.microsoft.com/office/drawing/2014/main" id="{8115B7CB-E78E-47C5-8D57-31AE3D9C807F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USES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22418-0F73-457E-AC45-E4DD9514B33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These models are used in many computer vision applications.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F748-05A2-4568-A8CB-1D47CD3F8438}"/>
              </a:ext>
            </a:extLst>
          </p:cNvPr>
          <p:cNvSpPr>
            <a:spLocks noGrp="1"/>
          </p:cNvSpPr>
          <p:nvPr/>
        </p:nvSpPr>
        <p:spPr>
          <a:xfrm>
            <a:off x="819150" y="1962150"/>
            <a:ext cx="2952750" cy="59055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2F352-083B-44D5-A3A0-60DFDB64B7C2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Image classification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AA10D1-AB52-4D4C-AF12-D1DC8F622388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telling what is in the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77B26-BEA7-41D8-822F-5E13D7F8C0D0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2952750" cy="59055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EC1B0A-B0C8-447B-BFDE-B477C94CD5AC}"/>
              </a:ext>
            </a:extLst>
          </p:cNvPr>
          <p:cNvSpPr>
            <a:spLocks noGrp="1"/>
          </p:cNvSpPr>
          <p:nvPr/>
        </p:nvSpPr>
        <p:spPr>
          <a:xfrm>
            <a:off x="4572000" y="21145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Object detection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E3E01-9368-40F1-B0B2-D448E397DAC2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finding where objects are located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6A2098-6461-4776-833F-D7F649CA3D77}"/>
              </a:ext>
            </a:extLst>
          </p:cNvPr>
          <p:cNvSpPr>
            <a:spLocks noGrp="1"/>
          </p:cNvSpPr>
          <p:nvPr/>
        </p:nvSpPr>
        <p:spPr>
          <a:xfrm>
            <a:off x="8096250" y="1962150"/>
            <a:ext cx="2952750" cy="590550"/>
          </a:xfrm>
          <a:prstGeom prst="rect">
            <a:avLst/>
          </a:prstGeom>
          <a:solidFill>
            <a:srgbClr val="FFEDD5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362FA-0563-4348-94E7-9CDCA27D6374}"/>
              </a:ext>
            </a:extLst>
          </p:cNvPr>
          <p:cNvSpPr>
            <a:spLocks noGrp="1"/>
          </p:cNvSpPr>
          <p:nvPr/>
        </p:nvSpPr>
        <p:spPr>
          <a:xfrm>
            <a:off x="8210550" y="21145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Face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72AF4-AD81-4747-B8B9-848A40386A5D}"/>
              </a:ext>
            </a:extLst>
          </p:cNvPr>
          <p:cNvSpPr>
            <a:spLocks noGrp="1"/>
          </p:cNvSpPr>
          <p:nvPr/>
        </p:nvSpPr>
        <p:spPr>
          <a:xfrm>
            <a:off x="8210550" y="26860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matching or verifying faces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943A6-33D9-4B0D-ADDB-E65781A144CE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952750" cy="59055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B7B47-BE21-4789-BBE0-F38D3FE3DCC4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Medical images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30E5FE-7032-4D32-B6A4-EA8F7EA88971}"/>
              </a:ext>
            </a:extLst>
          </p:cNvPr>
          <p:cNvSpPr>
            <a:spLocks noGrp="1"/>
          </p:cNvSpPr>
          <p:nvPr/>
        </p:nvSpPr>
        <p:spPr>
          <a:xfrm>
            <a:off x="933450" y="43624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helping doctors study scans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4DB109-3753-48AC-AC35-1703A1F30929}"/>
              </a:ext>
            </a:extLst>
          </p:cNvPr>
          <p:cNvSpPr>
            <a:spLocks noGrp="1"/>
          </p:cNvSpPr>
          <p:nvPr/>
        </p:nvSpPr>
        <p:spPr>
          <a:xfrm>
            <a:off x="4457700" y="3638550"/>
            <a:ext cx="2952750" cy="590550"/>
          </a:xfrm>
          <a:prstGeom prst="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78A891-CE79-44BC-935C-E9030B5CC4ED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Self-driving cars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BE131D-B5A1-4C12-A3D7-61D8E59909FC}"/>
              </a:ext>
            </a:extLst>
          </p:cNvPr>
          <p:cNvSpPr>
            <a:spLocks noGrp="1"/>
          </p:cNvSpPr>
          <p:nvPr/>
        </p:nvSpPr>
        <p:spPr>
          <a:xfrm>
            <a:off x="4572000" y="43624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understanding roads and signs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CF6039-54B8-44D3-87F9-88F7E8374689}"/>
              </a:ext>
            </a:extLst>
          </p:cNvPr>
          <p:cNvSpPr>
            <a:spLocks noGrp="1"/>
          </p:cNvSpPr>
          <p:nvPr/>
        </p:nvSpPr>
        <p:spPr>
          <a:xfrm>
            <a:off x="8096250" y="3638550"/>
            <a:ext cx="2952750" cy="590550"/>
          </a:xfrm>
          <a:prstGeom prst="rect">
            <a:avLst/>
          </a:prstGeom>
          <a:solidFill>
            <a:srgbClr val="E0F2FE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EC7D34-B353-41F3-9381-12EFC8F6F6DE}"/>
              </a:ext>
            </a:extLst>
          </p:cNvPr>
          <p:cNvSpPr>
            <a:spLocks noGrp="1"/>
          </p:cNvSpPr>
          <p:nvPr/>
        </p:nvSpPr>
        <p:spPr>
          <a:xfrm>
            <a:off x="8210550" y="379095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Quality checking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DB1271-8B38-441A-8F36-D09B6EB22A28}"/>
              </a:ext>
            </a:extLst>
          </p:cNvPr>
          <p:cNvSpPr>
            <a:spLocks noGrp="1"/>
          </p:cNvSpPr>
          <p:nvPr/>
        </p:nvSpPr>
        <p:spPr>
          <a:xfrm>
            <a:off x="8210550" y="436245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5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finding defects in products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6E3F47-8BCA-4479-9A4B-2EC9C98837FB}"/>
              </a:ext>
            </a:extLst>
          </p:cNvPr>
          <p:cNvSpPr>
            <a:spLocks noGrp="1"/>
          </p:cNvSpPr>
          <p:nvPr/>
        </p:nvSpPr>
        <p:spPr>
          <a:xfrm>
            <a:off x="857250" y="5695950"/>
            <a:ext cx="9906000" cy="4000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 lIns="152400" tIns="76200" rIns="152400" bIns="762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Most real systems use training data, testing, and many improvements before they are ready.</a:t>
            </a:r>
          </a:p>
        </p:txBody>
      </p:sp>
    </p:spTree>
    <p:extLst>
      <p:ext uri="{BB962C8B-B14F-4D97-AF65-F5344CB8AC3E}">
        <p14:creationId xmlns:p14="http://schemas.microsoft.com/office/powerpoint/2010/main" val="78597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08DB7A4-AACB-4B3E-A14F-0610B63A48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42A08-2C2E-4A41-AEE9-30081320FFD8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7934C-8E88-40F2-9475-DA6B8D698978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97613-C9D5-43B6-87EB-9540601C94FD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09-marker">
            <a:extLst>
              <a:ext uri="{FF2B5EF4-FFF2-40B4-BE49-F238E27FC236}">
                <a16:creationId xmlns:a16="http://schemas.microsoft.com/office/drawing/2014/main" id="{CF708D1B-4779-433E-BD36-0B552A45F2EE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9-label">
            <a:extLst>
              <a:ext uri="{FF2B5EF4-FFF2-40B4-BE49-F238E27FC236}">
                <a16:creationId xmlns:a16="http://schemas.microsoft.com/office/drawing/2014/main" id="{A0524F24-2D39-4F83-954E-B9345C66D48C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5592C-F86B-425A-B0F7-570442837BC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Each method has useful points and weak points.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AEEEF-B9DC-42D4-8736-6883BD602D6D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2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Good points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6CED9-9354-47D4-B004-A359A12792E0}"/>
              </a:ext>
            </a:extLst>
          </p:cNvPr>
          <p:cNvSpPr>
            <a:spLocks noGrp="1"/>
          </p:cNvSpPr>
          <p:nvPr/>
        </p:nvSpPr>
        <p:spPr>
          <a:xfrm>
            <a:off x="6705600" y="194310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2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9B5132-A6AD-41B9-95F8-8F6FDD7D4A1F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762500" cy="28575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9BC80-F477-4390-98AA-5692D35C95C3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41910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CNN is strong for image patterns.</a:t>
            </a:r>
          </a:p>
          <a:p>
            <a:endParaRPr sz="1800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Transformers can connect far parts of the image.</a:t>
            </a:r>
          </a:p>
          <a:p>
            <a:endParaRPr sz="1800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ANN is easy to understand as a starting point.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FE397-8BA0-444F-B7F4-FC79C3597CDF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762500" cy="2857500"/>
          </a:xfrm>
          <a:prstGeom prst="rect">
            <a:avLst/>
          </a:prstGeom>
          <a:solidFill>
            <a:srgbClr val="FFEDD5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84170-2002-4C5E-A486-E4B1092A9451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41910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t"/>
          <a:lstStyle/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Models need good training data.</a:t>
            </a:r>
          </a:p>
          <a:p>
            <a:endParaRPr sz="1800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They can make mistakes on new images.</a:t>
            </a:r>
          </a:p>
          <a:p>
            <a:endParaRPr sz="1800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Large models may need strong computers.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6C1CD-0E3A-4558-9392-F6F78921EA3F}"/>
              </a:ext>
            </a:extLst>
          </p:cNvPr>
          <p:cNvSpPr>
            <a:spLocks noGrp="1"/>
          </p:cNvSpPr>
          <p:nvPr/>
        </p:nvSpPr>
        <p:spPr>
          <a:xfrm>
            <a:off x="914400" y="5734050"/>
            <a:ext cx="9715500" cy="400050"/>
          </a:xfrm>
          <a:prstGeom prst="rect">
            <a:avLst/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  <p:txBody>
          <a:bodyPr lIns="171450" tIns="76200" rIns="171450" bIns="76200" anchor="t"/>
          <a:lstStyle/>
          <a:p>
            <a:pPr algn="l">
              <a:defRPr sz="16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Important: AI does not really 'see' like a human. It learns mathematical patterns.</a:t>
            </a:r>
          </a:p>
        </p:txBody>
      </p:sp>
    </p:spTree>
    <p:extLst>
      <p:ext uri="{BB962C8B-B14F-4D97-AF65-F5344CB8AC3E}">
        <p14:creationId xmlns:p14="http://schemas.microsoft.com/office/powerpoint/2010/main" val="134208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5FB9C3-AC15-4596-BE30-7EF5286B2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B9FC8-8993-4A96-A1ED-704978578DD2}"/>
              </a:ext>
            </a:extLst>
          </p:cNvPr>
          <p:cNvSpPr>
            <a:spLocks noGrp="1"/>
          </p:cNvSpPr>
          <p:nvPr/>
        </p:nvSpPr>
        <p:spPr>
          <a:xfrm>
            <a:off x="342900" y="207706"/>
            <a:ext cx="11544300" cy="60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19493-F174-4AEC-9973-95C0F3E682C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10-marker">
            <a:extLst>
              <a:ext uri="{FF2B5EF4-FFF2-40B4-BE49-F238E27FC236}">
                <a16:creationId xmlns:a16="http://schemas.microsoft.com/office/drawing/2014/main" id="{428BEFF6-7F03-4133-95EF-A62BA1B4B840}"/>
              </a:ext>
            </a:extLst>
          </p:cNvPr>
          <p:cNvSpPr>
            <a:spLocks noGrp="1"/>
          </p:cNvSpPr>
          <p:nvPr/>
        </p:nvSpPr>
        <p:spPr>
          <a:xfrm>
            <a:off x="628650" y="533400"/>
            <a:ext cx="11430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0-label">
            <a:extLst>
              <a:ext uri="{FF2B5EF4-FFF2-40B4-BE49-F238E27FC236}">
                <a16:creationId xmlns:a16="http://schemas.microsoft.com/office/drawing/2014/main" id="{65E65DAC-7B80-4C8D-ABCF-5DBEB1AE9F71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51235-F61A-4655-968F-858419DB67D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CNN and Transformers are very important for vision tasks.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BC00B8-BF59-4EE3-9479-258DA7527DFE}"/>
              </a:ext>
            </a:extLst>
          </p:cNvPr>
          <p:cNvSpPr>
            <a:spLocks noGrp="1"/>
          </p:cNvSpPr>
          <p:nvPr/>
        </p:nvSpPr>
        <p:spPr>
          <a:xfrm>
            <a:off x="1104900" y="21431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8F2A4-F54A-4C70-845A-38EF462784A5}"/>
              </a:ext>
            </a:extLst>
          </p:cNvPr>
          <p:cNvSpPr>
            <a:spLocks noGrp="1"/>
          </p:cNvSpPr>
          <p:nvPr/>
        </p:nvSpPr>
        <p:spPr>
          <a:xfrm>
            <a:off x="1333500" y="2019300"/>
            <a:ext cx="8820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ANN is the basic neural network idea.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9C55F5-B109-4F4F-8520-58C8427B7991}"/>
              </a:ext>
            </a:extLst>
          </p:cNvPr>
          <p:cNvSpPr>
            <a:spLocks noGrp="1"/>
          </p:cNvSpPr>
          <p:nvPr/>
        </p:nvSpPr>
        <p:spPr>
          <a:xfrm>
            <a:off x="1104900" y="27527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1D61DD-127E-4E56-BBA9-1C56CF32DD42}"/>
              </a:ext>
            </a:extLst>
          </p:cNvPr>
          <p:cNvSpPr>
            <a:spLocks noGrp="1"/>
          </p:cNvSpPr>
          <p:nvPr/>
        </p:nvSpPr>
        <p:spPr>
          <a:xfrm>
            <a:off x="1333500" y="2628900"/>
            <a:ext cx="8820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CNN is specially useful for images because it uses filters.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85A59-7AB9-47B9-BF6B-F23823762F0D}"/>
              </a:ext>
            </a:extLst>
          </p:cNvPr>
          <p:cNvSpPr>
            <a:spLocks noGrp="1"/>
          </p:cNvSpPr>
          <p:nvPr/>
        </p:nvSpPr>
        <p:spPr>
          <a:xfrm>
            <a:off x="1104900" y="33623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E8F68F-1E57-4362-9892-A1B7B96CA87C}"/>
              </a:ext>
            </a:extLst>
          </p:cNvPr>
          <p:cNvSpPr>
            <a:spLocks noGrp="1"/>
          </p:cNvSpPr>
          <p:nvPr/>
        </p:nvSpPr>
        <p:spPr>
          <a:xfrm>
            <a:off x="1333500" y="3238500"/>
            <a:ext cx="8820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Transformers use attention and are powerful for many modern vision tasks.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4BFFBB-7F2B-4F22-953E-131D3AB085EA}"/>
              </a:ext>
            </a:extLst>
          </p:cNvPr>
          <p:cNvSpPr>
            <a:spLocks noGrp="1"/>
          </p:cNvSpPr>
          <p:nvPr/>
        </p:nvSpPr>
        <p:spPr>
          <a:xfrm>
            <a:off x="1104900" y="3971925"/>
            <a:ext cx="95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DE924-5C8D-4C15-BEB5-5E195903795C}"/>
              </a:ext>
            </a:extLst>
          </p:cNvPr>
          <p:cNvSpPr>
            <a:spLocks noGrp="1"/>
          </p:cNvSpPr>
          <p:nvPr/>
        </p:nvSpPr>
        <p:spPr>
          <a:xfrm>
            <a:off x="1333500" y="3848100"/>
            <a:ext cx="8820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76200" bIns="38100" anchor="t"/>
          <a:lstStyle/>
          <a:p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Computer vision is used in health, cars, security, industry, and apps.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EFFE9-1A8D-4535-B117-F3F051B5D214}"/>
              </a:ext>
            </a:extLst>
          </p:cNvPr>
          <p:cNvSpPr>
            <a:spLocks noGrp="1"/>
          </p:cNvSpPr>
          <p:nvPr/>
        </p:nvSpPr>
        <p:spPr>
          <a:xfrm>
            <a:off x="3371850" y="5105400"/>
            <a:ext cx="457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40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7ECE3-F1C2-404D-B8AE-743E58C1F247}"/>
              </a:ext>
            </a:extLst>
          </p:cNvPr>
          <p:cNvSpPr>
            <a:spLocks noGrp="1"/>
          </p:cNvSpPr>
          <p:nvPr/>
        </p:nvSpPr>
        <p:spPr>
          <a:xfrm>
            <a:off x="4705350" y="58674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180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:- Dhruv </a:t>
            </a:r>
            <a:endParaRPr sz="180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88629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DocSecurity>0</DocSecurity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Dhruv Joshi</cp:lastModifiedBy>
  <cp:revision>1</cp:revision>
  <dcterms:created xsi:type="dcterms:W3CDTF">2026-06-02T06:01:20Z</dcterms:created>
  <dcterms:modified xsi:type="dcterms:W3CDTF">2026-06-02T06:12:23Z</dcterms:modified>
</cp:coreProperties>
</file>